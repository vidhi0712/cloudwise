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0020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Arial"/>
              </a:defRPr>
            </a:pPr>
            <a:r>
              <a:t>CloudWise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1460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Arial"/>
              </a:defRPr>
            </a:pPr>
            <a:r>
              <a:t>Explainable Cloud Cost Intelligence &amp; Optimization Platform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AI-Assisted Cloud Cost Anomaly Detection and Resource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429000"/>
            <a:ext cx="944849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71600" y="3703320"/>
            <a:ext cx="4572000" cy="192024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3813048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PROJECT 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114800"/>
            <a:ext cx="4206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• Pragya Prakash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   Register No: 24BML0075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Vidhi Agarwal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   Register No: 24BML0081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03320"/>
            <a:ext cx="4572000" cy="192024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3813048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COURSE &amp; EVALUATION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206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Subject: Advanced Cloud Computing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Course Code: BECE355L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Faculty / Evaluator: Prof. Sangeetha N</a:t>
            </a:r>
          </a:p>
          <a:p>
            <a:pPr>
              <a:defRPr sz="1050">
                <a:solidFill>
                  <a:srgbClr val="38BDF8"/>
                </a:solidFill>
              </a:defRPr>
            </a:pPr>
            <a:r>
              <a:t>Implementation Status: Fully Runnable &amp; Verified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2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10515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366F1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27632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Objective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Problem formulation, cloud FinOps motivations, and core platform targets.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10515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366F1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27632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Proposed Solution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Single-pane CloudWise architecture with simulated AWS data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5257800" cy="10515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366F1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816352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Methodology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7-step operational pipeline from telemetry generation to explainable savings.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651760"/>
            <a:ext cx="5257800" cy="10515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283464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366F1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816352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Tech Stack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React 19, FastAPI, SQLite, Scikit-learn, and simulated AWS service concepts.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5257800" cy="10515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366F1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005072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Novelty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Why CloudWise is novel: Explainable recommendations, confidence scores, and risk.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80"/>
            <a:ext cx="5257800" cy="10515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402336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366F1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005072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Scalability &amp; Future Scope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Evolution path from reproducible MVP to enterprise multi-cloud AWS APIs.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29200"/>
            <a:ext cx="5257800" cy="10515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366F1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193792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Outcomes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Verified achievements: ₹16,310/mo savings, 61 anomalies, 8 recommendations.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5029200"/>
            <a:ext cx="5257800" cy="10515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5212080"/>
            <a:ext cx="640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366F1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193792"/>
            <a:ext cx="4251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References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Formal academic citations and official AWS, Scikit-learn, and FastAPI papers.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PROBLEM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Problem Statement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3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206240" cy="466344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634957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/>
              <a:t>THE PROBLEM IN MODERN CLOUD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 dirty="0">
                <a:solidFill>
                  <a:srgbClr val="F8FAFC"/>
                </a:solidFill>
                <a:latin typeface="Arial"/>
              </a:rPr>
              <a:t>Opaque Cloud Billing: </a:t>
            </a:r>
            <a:r>
              <a:rPr sz="1100" dirty="0">
                <a:solidFill>
                  <a:srgbClr val="F8FAFC"/>
                </a:solidFill>
                <a:latin typeface="Arial"/>
              </a:rPr>
              <a:t>Cloud infrastructure generates massive, continuously changing cost &amp; usage streams. Standard dashboards only report aggregate bills.</a:t>
            </a:r>
          </a:p>
          <a:p>
            <a:pPr>
              <a:spcAft>
                <a:spcPts val="400"/>
              </a:spcAft>
            </a:pPr>
            <a:r>
              <a:rPr sz="1100" b="1" dirty="0">
                <a:solidFill>
                  <a:srgbClr val="F8FAFC"/>
                </a:solidFill>
                <a:latin typeface="Arial"/>
              </a:rPr>
              <a:t>Lack of Transparency: </a:t>
            </a:r>
            <a:r>
              <a:rPr sz="1100" dirty="0">
                <a:solidFill>
                  <a:srgbClr val="F8FAFC"/>
                </a:solidFill>
                <a:latin typeface="Arial"/>
              </a:rPr>
              <a:t>Native billing reports fail to explain:</a:t>
            </a:r>
          </a:p>
          <a:p>
            <a:pPr lvl="1">
              <a:spcAft>
                <a:spcPts val="400"/>
              </a:spcAft>
            </a:pPr>
            <a:r>
              <a:rPr sz="1000" b="1" dirty="0">
                <a:solidFill>
                  <a:srgbClr val="F8FAFC"/>
                </a:solidFill>
                <a:latin typeface="Arial"/>
              </a:rPr>
              <a:t>• </a:t>
            </a:r>
            <a:r>
              <a:rPr sz="1000" dirty="0">
                <a:solidFill>
                  <a:srgbClr val="F8FAFC"/>
                </a:solidFill>
                <a:latin typeface="Arial"/>
              </a:rPr>
              <a:t>Why a sudden cost surge or traffic spike occurred.</a:t>
            </a:r>
          </a:p>
          <a:p>
            <a:pPr lvl="1">
              <a:spcAft>
                <a:spcPts val="400"/>
              </a:spcAft>
            </a:pPr>
            <a:r>
              <a:rPr sz="1000" b="1" dirty="0">
                <a:solidFill>
                  <a:srgbClr val="F8FAFC"/>
                </a:solidFill>
                <a:latin typeface="Arial"/>
              </a:rPr>
              <a:t>• </a:t>
            </a:r>
            <a:r>
              <a:rPr sz="1000" dirty="0">
                <a:solidFill>
                  <a:srgbClr val="F8FAFC"/>
                </a:solidFill>
                <a:latin typeface="Arial"/>
              </a:rPr>
              <a:t>Which instances are idle or severely oversized.</a:t>
            </a:r>
          </a:p>
          <a:p>
            <a:pPr lvl="1">
              <a:spcAft>
                <a:spcPts val="400"/>
              </a:spcAft>
            </a:pPr>
            <a:r>
              <a:rPr sz="1000" b="1" dirty="0">
                <a:solidFill>
                  <a:srgbClr val="F8FAFC"/>
                </a:solidFill>
                <a:latin typeface="Arial"/>
              </a:rPr>
              <a:t>• </a:t>
            </a:r>
            <a:r>
              <a:rPr sz="1000" dirty="0">
                <a:solidFill>
                  <a:srgbClr val="F8FAFC"/>
                </a:solidFill>
                <a:latin typeface="Arial"/>
              </a:rPr>
              <a:t>What specific engineering actions can safely lower bills.</a:t>
            </a:r>
          </a:p>
          <a:p>
            <a:pPr lvl="1">
              <a:spcAft>
                <a:spcPts val="400"/>
              </a:spcAft>
            </a:pPr>
            <a:r>
              <a:rPr sz="1000" b="1" dirty="0">
                <a:solidFill>
                  <a:srgbClr val="F8FAFC"/>
                </a:solidFill>
                <a:latin typeface="Arial"/>
              </a:rPr>
              <a:t>• </a:t>
            </a:r>
            <a:r>
              <a:rPr sz="1000" dirty="0">
                <a:solidFill>
                  <a:srgbClr val="F8FAFC"/>
                </a:solidFill>
                <a:latin typeface="Arial"/>
              </a:rPr>
              <a:t>Exact quantifiable savings in local currency (₹ INR).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71483"/>
            <a:ext cx="384048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rPr dirty="0"/>
              <a:t>Cloud Data → Analysis → Intelligence → Recommendation → Savings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463040"/>
            <a:ext cx="6291072" cy="466344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99701" y="1634957"/>
            <a:ext cx="60167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/>
              <a:t>CORE OBJECTIVES OF CLOUDWISE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954997"/>
            <a:ext cx="59253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dirty="0">
                <a:solidFill>
                  <a:srgbClr val="F8FAFC"/>
                </a:solidFill>
                <a:latin typeface="Arial"/>
              </a:rPr>
              <a:t>1. Real-time Telemetry &amp; Cost Monitoring: </a:t>
            </a:r>
            <a:r>
              <a:rPr sz="1050" dirty="0">
                <a:solidFill>
                  <a:srgbClr val="F8FAFC"/>
                </a:solidFill>
                <a:latin typeface="Arial"/>
              </a:rPr>
              <a:t>Track simulated cloud resources across compute, database, storage, and serverless tiers.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F8FAFC"/>
                </a:solidFill>
                <a:latin typeface="Arial"/>
              </a:rPr>
              <a:t>2. Machine Learning Anomaly Detection: </a:t>
            </a:r>
            <a:r>
              <a:rPr sz="1050" dirty="0">
                <a:solidFill>
                  <a:srgbClr val="F8FAFC"/>
                </a:solidFill>
                <a:latin typeface="Arial"/>
              </a:rPr>
              <a:t>Unsupervised detection of unusual daily spend spikes using Scikit-</a:t>
            </a:r>
            <a:r>
              <a:rPr sz="1050" dirty="0" err="1">
                <a:solidFill>
                  <a:srgbClr val="F8FAFC"/>
                </a:solidFill>
                <a:latin typeface="Arial"/>
              </a:rPr>
              <a:t>learn's</a:t>
            </a:r>
            <a:r>
              <a:rPr sz="1050" dirty="0">
                <a:solidFill>
                  <a:srgbClr val="F8FAFC"/>
                </a:solidFill>
                <a:latin typeface="Arial"/>
              </a:rPr>
              <a:t> Isolation Forest.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F8FAFC"/>
                </a:solidFill>
                <a:latin typeface="Arial"/>
              </a:rPr>
              <a:t>3. Underutilization &amp; Inefficiency Profiling: </a:t>
            </a:r>
            <a:r>
              <a:rPr sz="1050" dirty="0">
                <a:solidFill>
                  <a:srgbClr val="F8FAFC"/>
                </a:solidFill>
                <a:latin typeface="Arial"/>
              </a:rPr>
              <a:t>Transparent FinOps heuristics identifying underused compute (&lt;10% CPU), idle DBs, and cold storage.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F8FAFC"/>
                </a:solidFill>
                <a:latin typeface="Arial"/>
              </a:rPr>
              <a:t>4. Actionable Recommendation Generation: </a:t>
            </a:r>
            <a:r>
              <a:rPr sz="1050" dirty="0">
                <a:solidFill>
                  <a:srgbClr val="F8FAFC"/>
                </a:solidFill>
                <a:latin typeface="Arial"/>
              </a:rPr>
              <a:t>Generate concrete, non-destructive rightsizing and migration recommendations.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F8FAFC"/>
                </a:solidFill>
                <a:latin typeface="Arial"/>
              </a:rPr>
              <a:t>5. Quantified Savings Estimation: </a:t>
            </a:r>
            <a:r>
              <a:rPr sz="1050" dirty="0">
                <a:solidFill>
                  <a:srgbClr val="F8FAFC"/>
                </a:solidFill>
                <a:latin typeface="Arial"/>
              </a:rPr>
              <a:t>Compute exact monthly and annual savings in Indian Rupees (₹ INR) for every identified waste.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F8FAFC"/>
                </a:solidFill>
                <a:latin typeface="Arial"/>
              </a:rPr>
              <a:t>6. Explainable Human-Readable Rationale: </a:t>
            </a:r>
            <a:r>
              <a:rPr sz="1050" dirty="0">
                <a:solidFill>
                  <a:srgbClr val="F8FAFC"/>
                </a:solidFill>
                <a:latin typeface="Arial"/>
              </a:rPr>
              <a:t>Answer WHAT is wrong, WHY it was flagged, WHAT to do, RISK tier, and CONFIDENCE score.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F8FAFC"/>
                </a:solidFill>
                <a:latin typeface="Arial"/>
              </a:rPr>
              <a:t>7. Short-Term Predictive Cost Forecasting: </a:t>
            </a:r>
            <a:r>
              <a:rPr sz="1050" dirty="0">
                <a:solidFill>
                  <a:srgbClr val="F8FAFC"/>
                </a:solidFill>
                <a:latin typeface="Arial"/>
              </a:rPr>
              <a:t>Project next 14 days of cloud expenditure using regression modeling to prevent bill shocks.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rPr sz="800"/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Proposed Solution — High-Level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3728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rPr sz="700"/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rPr sz="700"/>
              <a:t>Slide 4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38BDF8"/>
                </a:solidFill>
              </a:defRPr>
            </a:pPr>
            <a:r>
              <a:rPr sz="1000"/>
              <a:t>"An explainable cloud cost intelligence platform that combines anomaly detection, resource utilization analysis, cost forecasting, and recommendation generation in a single unified dashboard."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38886"/>
            <a:ext cx="10728655" cy="750034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914396" y="2058513"/>
            <a:ext cx="103628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366F1"/>
                </a:solidFill>
                <a:latin typeface="Arial"/>
              </a:defRPr>
            </a:pPr>
            <a:r>
              <a:rPr sz="1000" dirty="0"/>
              <a:t>LAYER 1: DATA INGESTION</a:t>
            </a:r>
          </a:p>
          <a:p>
            <a:pPr>
              <a:defRPr sz="850">
                <a:solidFill>
                  <a:srgbClr val="F8FAFC"/>
                </a:solidFill>
                <a:latin typeface="Arial"/>
              </a:defRPr>
            </a:pPr>
            <a:r>
              <a:rPr sz="800" dirty="0"/>
              <a:t>Simulated AWS Telemetry Dataset</a:t>
            </a:r>
            <a:br>
              <a:rPr sz="800" dirty="0"/>
            </a:br>
            <a:r>
              <a:rPr sz="800" dirty="0"/>
              <a:t>• 60-Day Historical Data | 20 Active Resources</a:t>
            </a:r>
            <a:br>
              <a:rPr sz="800" dirty="0"/>
            </a:br>
            <a:r>
              <a:rPr sz="800" dirty="0"/>
              <a:t>• Services: EC2, RDS, S3, Lambda</a:t>
            </a:r>
            <a:br>
              <a:rPr sz="800" dirty="0"/>
            </a:br>
            <a:r>
              <a:rPr sz="800" dirty="0"/>
              <a:t>• Injected Spikes, Underutilization &amp; Traffic Bursts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10728655" cy="910822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914400" y="2953512"/>
            <a:ext cx="10362895" cy="807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34155"/>
                </a:solidFill>
                <a:latin typeface="Arial"/>
              </a:defRPr>
            </a:pPr>
            <a:r>
              <a:rPr sz="1050" dirty="0"/>
              <a:t>LAYER 2: PERSISTENCE</a:t>
            </a:r>
          </a:p>
          <a:p>
            <a:pPr>
              <a:defRPr sz="850">
                <a:solidFill>
                  <a:srgbClr val="F8FAFC"/>
                </a:solidFill>
                <a:latin typeface="Arial"/>
              </a:defRPr>
            </a:pPr>
            <a:r>
              <a:rPr sz="900" dirty="0"/>
              <a:t>SQLite Relational Storage (</a:t>
            </a:r>
            <a:r>
              <a:rPr sz="900" dirty="0" err="1"/>
              <a:t>cloudwise.db</a:t>
            </a:r>
            <a:r>
              <a:rPr sz="900" dirty="0"/>
              <a:t>)</a:t>
            </a:r>
            <a:br>
              <a:rPr sz="900" dirty="0"/>
            </a:br>
            <a:r>
              <a:rPr sz="900" dirty="0"/>
              <a:t>• Tables: resources, </a:t>
            </a:r>
            <a:r>
              <a:rPr sz="900" dirty="0" err="1"/>
              <a:t>cost_records</a:t>
            </a:r>
            <a:r>
              <a:rPr sz="900" dirty="0"/>
              <a:t>, </a:t>
            </a:r>
            <a:r>
              <a:rPr sz="900" dirty="0" err="1"/>
              <a:t>usage_records</a:t>
            </a:r>
            <a:br>
              <a:rPr sz="900" dirty="0"/>
            </a:br>
            <a:r>
              <a:rPr sz="900" dirty="0"/>
              <a:t>• 1,200 Cost Records + 1,200 Metric Telemetry Points</a:t>
            </a:r>
            <a:br>
              <a:rPr sz="900" dirty="0"/>
            </a:br>
            <a:r>
              <a:rPr sz="900" dirty="0"/>
              <a:t>• Zero external database dependency, instant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7" y="3840254"/>
            <a:ext cx="10728655" cy="692718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914400" y="3730752"/>
            <a:ext cx="103628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366F1"/>
                </a:solidFill>
                <a:latin typeface="Arial"/>
              </a:defRPr>
            </a:pPr>
            <a:endParaRPr lang="en-IN" sz="1000" dirty="0"/>
          </a:p>
          <a:p>
            <a:pPr>
              <a:defRPr sz="1050" b="1">
                <a:solidFill>
                  <a:srgbClr val="6366F1"/>
                </a:solidFill>
                <a:latin typeface="Arial"/>
              </a:defRPr>
            </a:pPr>
            <a:r>
              <a:rPr sz="1000" dirty="0"/>
              <a:t>LAYER 3: ANALYTICS &amp; ML ENGINE</a:t>
            </a:r>
          </a:p>
          <a:p>
            <a:pPr>
              <a:defRPr sz="850">
                <a:solidFill>
                  <a:srgbClr val="F8FAFC"/>
                </a:solidFill>
                <a:latin typeface="Arial"/>
              </a:defRPr>
            </a:pPr>
            <a:r>
              <a:rPr sz="1000" dirty="0" err="1"/>
              <a:t>CloudWise</a:t>
            </a:r>
            <a:r>
              <a:rPr sz="1000" dirty="0"/>
              <a:t> Intelligence Core (Python / Scikit-Learn)</a:t>
            </a:r>
            <a:br>
              <a:rPr sz="1000" dirty="0"/>
            </a:br>
            <a:r>
              <a:rPr sz="1000" dirty="0"/>
              <a:t>│ ML Anomaly Detection │ Utilization Analysis │  14-Day Forecasting  ││   Isolation Forest   │  FinOps Heuristics   │  Linear Trend Model  │</a:t>
            </a:r>
            <a:br>
              <a:rPr sz="1000" dirty="0"/>
            </a:br>
            <a:endParaRPr sz="1000" dirty="0"/>
          </a:p>
        </p:txBody>
      </p:sp>
      <p:sp>
        <p:nvSpPr>
          <p:cNvPr id="13" name="Rounded Rectangle 12"/>
          <p:cNvSpPr/>
          <p:nvPr/>
        </p:nvSpPr>
        <p:spPr>
          <a:xfrm>
            <a:off x="731520" y="4601665"/>
            <a:ext cx="10728655" cy="747575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4687859"/>
            <a:ext cx="1036289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Arial"/>
              </a:defRPr>
            </a:pPr>
            <a:r>
              <a:rPr sz="900" dirty="0"/>
              <a:t>LAYER 4: EXPLAINABILITY &amp; INSIGHTS</a:t>
            </a:r>
          </a:p>
          <a:p>
            <a:pPr>
              <a:defRPr sz="850">
                <a:solidFill>
                  <a:srgbClr val="F8FAFC"/>
                </a:solidFill>
                <a:latin typeface="Arial"/>
              </a:defRPr>
            </a:pPr>
            <a:r>
              <a:rPr sz="800" dirty="0"/>
              <a:t>Dynamic Reasoning &amp; Decision Layer</a:t>
            </a:r>
            <a:br>
              <a:rPr sz="800" dirty="0"/>
            </a:br>
            <a:r>
              <a:rPr sz="800" dirty="0"/>
              <a:t>• Evaluates confidence % and risk tier per resource</a:t>
            </a:r>
            <a:br>
              <a:rPr sz="800" dirty="0"/>
            </a:br>
            <a:r>
              <a:rPr sz="800" dirty="0"/>
              <a:t>• Dynamic calculation-backed explanations (No LLM tokens/costs)</a:t>
            </a:r>
            <a:br>
              <a:rPr sz="800" dirty="0"/>
            </a:br>
            <a:r>
              <a:rPr sz="800" dirty="0"/>
              <a:t>• </a:t>
            </a:r>
            <a:r>
              <a:rPr sz="800" dirty="0" err="1"/>
              <a:t>CloudWise</a:t>
            </a:r>
            <a:r>
              <a:rPr sz="800" dirty="0"/>
              <a:t> Insights Engine generating 4 high-value executive takeaways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" y="5486626"/>
            <a:ext cx="10728655" cy="6858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914398" y="5520692"/>
            <a:ext cx="10362895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rial"/>
              </a:defRPr>
            </a:pPr>
            <a:r>
              <a:rPr sz="1100" dirty="0"/>
              <a:t>LAYER 5: PRESENTATION</a:t>
            </a:r>
          </a:p>
          <a:p>
            <a:pPr>
              <a:defRPr sz="850">
                <a:solidFill>
                  <a:srgbClr val="F8FAFC"/>
                </a:solidFill>
                <a:latin typeface="Arial"/>
              </a:defRPr>
            </a:pPr>
            <a:r>
              <a:rPr sz="1000" dirty="0"/>
              <a:t>Modern SaaS Web Dashboard (React 19 + Recharts + Tailwind CSS)</a:t>
            </a:r>
            <a:br>
              <a:rPr sz="1000" dirty="0"/>
            </a:br>
            <a:r>
              <a:rPr sz="1000" dirty="0"/>
              <a:t>• Executive Dashboard  • Resource Intelligence  • Cost Deep-Dive  • Anomalies  •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198" y="6248860"/>
            <a:ext cx="6449201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59E0B"/>
                </a:solidFill>
              </a:defRPr>
            </a:pPr>
            <a:r>
              <a:rPr sz="700" dirty="0"/>
              <a:t>Note: </a:t>
            </a:r>
            <a:r>
              <a:rPr sz="700" dirty="0" err="1"/>
              <a:t>CloudWise</a:t>
            </a:r>
            <a:r>
              <a:rPr sz="700" dirty="0"/>
              <a:t> currently operates in Demo Mode using reproducible simulated AWS Cost Explorer/CloudWatch data. Live AWS API integration is planned for future scope.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rPr sz="1200"/>
              <a:t>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rPr sz="3200" dirty="0"/>
              <a:t>Methodology — 7-Step Operational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1043088" cy="3385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rPr sz="1100"/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rPr sz="1100"/>
              <a:t>Slide 5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10515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8463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dirty="0"/>
              <a:t>STEP 1: DATA GENERATION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rPr sz="1200" dirty="0"/>
              <a:t>Synthesize 60 days of telemetry across 20 resources (EC2, RDS, S3, Lambda) with seed 42 to ensure reproducible anomalies and idle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5212080" cy="10515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914400" y="2715768"/>
            <a:ext cx="48463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STEP 2: DATA STORAGE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rPr sz="1200"/>
              <a:t>Persist schemas in SQLite (`resources`, `cost_records`, `usage_records`) with automated initialization and seeding on startup.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212080" cy="10515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914400" y="3858767"/>
            <a:ext cx="48463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STEP 3: DATA PREPROCESSING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rPr sz="1200"/>
              <a:t>Extract rolling means, standard deviations, and service-level cost aggregations via Pandas and NumPy.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5212080" cy="10515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914400" y="5001768"/>
            <a:ext cx="48463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STEP 4: AI / ML DETECTION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rPr sz="1200"/>
              <a:t>Apply Scikit-learn's Isolation Forest (`contamination=0.08`, `n_estimators=40`) to isolate abnormal spend deviations.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6400800" y="1572768"/>
            <a:ext cx="48463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STEP 5: UTILIZATION HEURISTICS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rPr sz="1200"/>
              <a:t>Execute FinOps rules: EC2 CPU &lt; 10%, RDS CPU &lt; 15% &amp; connections &lt; 10, S3 access &lt; 15 requests/day, Lambda burst detection.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5212080" cy="13716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6400800" y="3081528"/>
            <a:ext cx="48463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STEP 6: EXPLAINABILITY ENGINE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rPr sz="1200"/>
              <a:t>Derive transparent metrics: Problem, Recommended Action, Estimated Savings (₹), Risk Level, Confidence %, and Reason.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480560"/>
            <a:ext cx="5212080" cy="13716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6400800" y="4590288"/>
            <a:ext cx="48463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STEP 7: VISUALIZATION DASHBOARD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rPr sz="1200"/>
              <a:t>Render interactive views in React with Recharts (Area, Donut, Stacked, Bar charts), responsive sidebar, and slide-out inspector.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Technology Stack &amp; Architectural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6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React 19: </a:t>
            </a:r>
            <a:r>
              <a:rPr sz="1000">
                <a:solidFill>
                  <a:srgbClr val="F8FAFC"/>
                </a:solidFill>
                <a:latin typeface="Arial"/>
              </a:rPr>
              <a:t>Declarative component-based user interface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Vite 8: </a:t>
            </a:r>
            <a:r>
              <a:rPr sz="1000">
                <a:solidFill>
                  <a:srgbClr val="F8FAFC"/>
                </a:solidFill>
                <a:latin typeface="Arial"/>
              </a:rPr>
              <a:t>High-speed frontend development &amp; bundling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Tailwind CSS v4: </a:t>
            </a:r>
            <a:r>
              <a:rPr sz="1000">
                <a:solidFill>
                  <a:srgbClr val="F8FAFC"/>
                </a:solidFill>
                <a:latin typeface="Arial"/>
              </a:rPr>
              <a:t>Custom dark-mode glassmorphic design system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Recharts: </a:t>
            </a:r>
            <a:r>
              <a:rPr sz="1000">
                <a:solidFill>
                  <a:srgbClr val="F8FAFC"/>
                </a:solidFill>
                <a:latin typeface="Arial"/>
              </a:rPr>
              <a:t>Interactive D3-based financial and telemetry charting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React Router v7: </a:t>
            </a:r>
            <a:r>
              <a:rPr sz="1000">
                <a:solidFill>
                  <a:srgbClr val="F8FAFC"/>
                </a:solidFill>
                <a:latin typeface="Arial"/>
              </a:rPr>
              <a:t>Single-page application client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572768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Python 3.10+: </a:t>
            </a:r>
            <a:r>
              <a:rPr sz="1000">
                <a:solidFill>
                  <a:srgbClr val="F8FAFC"/>
                </a:solidFill>
                <a:latin typeface="Arial"/>
              </a:rPr>
              <a:t>Core algorithmic backend language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FastAPI: </a:t>
            </a:r>
            <a:r>
              <a:rPr sz="1000">
                <a:solidFill>
                  <a:srgbClr val="F8FAFC"/>
                </a:solidFill>
                <a:latin typeface="Arial"/>
              </a:rPr>
              <a:t>High-performance asynchronous REST API framework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Uvicorn: </a:t>
            </a:r>
            <a:r>
              <a:rPr sz="1000">
                <a:solidFill>
                  <a:srgbClr val="F8FAFC"/>
                </a:solidFill>
                <a:latin typeface="Arial"/>
              </a:rPr>
              <a:t>Lightning-fast ASGI production web server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Pydantic v2: </a:t>
            </a:r>
            <a:r>
              <a:rPr sz="1000">
                <a:solidFill>
                  <a:srgbClr val="F8FAFC"/>
                </a:solidFill>
                <a:latin typeface="Arial"/>
              </a:rPr>
              <a:t>Strict schema validation and data contracts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CORS Middleware: </a:t>
            </a:r>
            <a:r>
              <a:rPr sz="1000">
                <a:solidFill>
                  <a:srgbClr val="F8FAFC"/>
                </a:solidFill>
                <a:latin typeface="Arial"/>
              </a:rPr>
              <a:t>Cross-origin resource sharing for frontend API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950208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DATA &amp;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Scikit-Learn: </a:t>
            </a:r>
            <a:r>
              <a:rPr sz="1000">
                <a:solidFill>
                  <a:srgbClr val="F8FAFC"/>
                </a:solidFill>
                <a:latin typeface="Arial"/>
              </a:rPr>
              <a:t>Isolation Forest unsupervised anomaly detection &amp; Linear Regression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Pandas: </a:t>
            </a:r>
            <a:r>
              <a:rPr sz="1000">
                <a:solidFill>
                  <a:srgbClr val="F8FAFC"/>
                </a:solidFill>
                <a:latin typeface="Arial"/>
              </a:rPr>
              <a:t>DataFrame manipulation, rolling statistics, and time-series aggregation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NumPy: </a:t>
            </a:r>
            <a:r>
              <a:rPr sz="1000">
                <a:solidFill>
                  <a:srgbClr val="F8FAFC"/>
                </a:solidFill>
                <a:latin typeface="Arial"/>
              </a:rPr>
              <a:t>High-performance vector operations and synthetic data generation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SQLite3: </a:t>
            </a:r>
            <a:r>
              <a:rPr sz="1000">
                <a:solidFill>
                  <a:srgbClr val="F8FAFC"/>
                </a:solidFill>
                <a:latin typeface="Arial"/>
              </a:rPr>
              <a:t>Self-contained serverless relational database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3950208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CLOUD CONCEPTS (SIMULATED)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AWS EC2: </a:t>
            </a:r>
            <a:r>
              <a:rPr sz="1000">
                <a:solidFill>
                  <a:srgbClr val="F8FAFC"/>
                </a:solidFill>
                <a:latin typeface="Arial"/>
              </a:rPr>
              <a:t>Elastic Compute Cloud instances (m5, c5, t3, p3 families)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AWS RDS: </a:t>
            </a:r>
            <a:r>
              <a:rPr sz="1000">
                <a:solidFill>
                  <a:srgbClr val="F8FAFC"/>
                </a:solidFill>
                <a:latin typeface="Arial"/>
              </a:rPr>
              <a:t>Relational Database Service (PostgreSQL/MySQL db classes)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AWS S3: </a:t>
            </a:r>
            <a:r>
              <a:rPr sz="1000">
                <a:solidFill>
                  <a:srgbClr val="F8FAFC"/>
                </a:solidFill>
                <a:latin typeface="Arial"/>
              </a:rPr>
              <a:t>Simple Storage Service buckets (Standard vs Glacier/IA)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• AWS Lambda: </a:t>
            </a:r>
            <a:r>
              <a:rPr sz="1000">
                <a:solidFill>
                  <a:srgbClr val="F8FAFC"/>
                </a:solidFill>
                <a:latin typeface="Arial"/>
              </a:rPr>
              <a:t>Serverless function invocations and concurrency telemetry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CORE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Novelty &amp; Key Differentiators — The Explainability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7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104543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TRADITIONAL CLOUD MONITORING VS CLOUDWISE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EF4444"/>
                </a:solidFill>
                <a:latin typeface="Arial"/>
              </a:rPr>
              <a:t>Traditional Approach: </a:t>
            </a:r>
            <a:r>
              <a:rPr sz="1050">
                <a:solidFill>
                  <a:srgbClr val="F8FAFC"/>
                </a:solidFill>
                <a:latin typeface="Arial"/>
              </a:rPr>
              <a:t>Cloud Usage → Passive Billing Dashboard → Manual Human Triage → Opaque Decision (Reactive &amp; Slow)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CloudWise Approach: </a:t>
            </a:r>
            <a:r>
              <a:rPr sz="1050">
                <a:solidFill>
                  <a:srgbClr val="F8FAFC"/>
                </a:solidFill>
                <a:latin typeface="Arial"/>
              </a:rPr>
              <a:t>Cloud Usage → ML Anomaly Detection → Resource Heuristics → Explainable Recommendation → Quantified Savings (Proactive &amp; Automated)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12080" cy="32004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108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/>
              <a:t>6 KEY PLATFORM DIFFERENTIATORS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F8FAFC"/>
                </a:solidFill>
                <a:latin typeface="Arial"/>
              </a:rPr>
              <a:t>1. Explainable Recommendations: </a:t>
            </a:r>
            <a:r>
              <a:rPr sz="950">
                <a:solidFill>
                  <a:srgbClr val="F8FAFC"/>
                </a:solidFill>
                <a:latin typeface="Arial"/>
              </a:rPr>
              <a:t>Answers WHAT is wrong, WHY it happened, and WHAT to do.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8FAFC"/>
                </a:solidFill>
                <a:latin typeface="Arial"/>
              </a:rPr>
              <a:t>2. Machine Learning Anomaly Detection: </a:t>
            </a:r>
            <a:r>
              <a:rPr sz="950">
                <a:solidFill>
                  <a:srgbClr val="F8FAFC"/>
                </a:solidFill>
                <a:latin typeface="Arial"/>
              </a:rPr>
              <a:t>Unsupervised Isolation Forest flags sudden spikes.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8FAFC"/>
                </a:solidFill>
                <a:latin typeface="Arial"/>
              </a:rPr>
              <a:t>3. Deep Resource Intelligence: </a:t>
            </a:r>
            <a:r>
              <a:rPr sz="950">
                <a:solidFill>
                  <a:srgbClr val="F8FAFC"/>
                </a:solidFill>
                <a:latin typeface="Arial"/>
              </a:rPr>
              <a:t>Combines billing data with CPU, connections, and request metrics.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8FAFC"/>
                </a:solidFill>
                <a:latin typeface="Arial"/>
              </a:rPr>
              <a:t>4. Precise Savings Quantification: </a:t>
            </a:r>
            <a:r>
              <a:rPr sz="950">
                <a:solidFill>
                  <a:srgbClr val="F8FAFC"/>
                </a:solidFill>
                <a:latin typeface="Arial"/>
              </a:rPr>
              <a:t>Every item is valued in Indian Rupees (₹) monthly &amp; annually.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8FAFC"/>
                </a:solidFill>
                <a:latin typeface="Arial"/>
              </a:rPr>
              <a:t>5. Predictive 14-Day Cost Forecasting: </a:t>
            </a:r>
            <a:r>
              <a:rPr sz="950">
                <a:solidFill>
                  <a:srgbClr val="F8FAFC"/>
                </a:solidFill>
                <a:latin typeface="Arial"/>
              </a:rPr>
              <a:t>Linear trend projection alerts before monthly budget overruns.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8FAFC"/>
                </a:solidFill>
                <a:latin typeface="Arial"/>
              </a:rPr>
              <a:t>6. Automated Executive Insights: </a:t>
            </a:r>
            <a:r>
              <a:rPr sz="950">
                <a:solidFill>
                  <a:srgbClr val="F8FAFC"/>
                </a:solidFill>
                <a:latin typeface="Arial"/>
              </a:rPr>
              <a:t>CloudWise Insight engine generates plain-English takeaways.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17520"/>
            <a:ext cx="5242255" cy="32004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127248"/>
            <a:ext cx="49679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/>
              <a:t>ACTUAL SYSTEM RECOMMENDATION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29000"/>
            <a:ext cx="48764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Flagged Resource: </a:t>
            </a:r>
            <a:r>
              <a:rPr sz="1050">
                <a:solidFill>
                  <a:srgbClr val="F8FAFC"/>
                </a:solidFill>
                <a:latin typeface="Arial"/>
              </a:rPr>
              <a:t>production-api-03 (EC2 m5.large in ap-south-1)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Identified Problem: </a:t>
            </a:r>
            <a:r>
              <a:rPr sz="1050">
                <a:solidFill>
                  <a:srgbClr val="F8FAFC"/>
                </a:solidFill>
                <a:latin typeface="Arial"/>
              </a:rPr>
              <a:t>EC2 instance is underutilized (Average CPU: 5.7%)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Current Cost: </a:t>
            </a:r>
            <a:r>
              <a:rPr sz="1050">
                <a:solidFill>
                  <a:srgbClr val="F8FAFC"/>
                </a:solidFill>
                <a:latin typeface="Arial"/>
              </a:rPr>
              <a:t>₹7,200 / month (~₹240 / day)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  <a:latin typeface="Arial"/>
              </a:rPr>
              <a:t>Actionable Advice: </a:t>
            </a:r>
            <a:r>
              <a:rPr sz="1000">
                <a:solidFill>
                  <a:srgbClr val="F8FAFC"/>
                </a:solidFill>
                <a:latin typeface="Arial"/>
              </a:rPr>
              <a:t>Consider downsizing from m5.large to a smaller instance type (t3.medium) or schedule auto-shutdown during off-peak hours.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Potential Savings: </a:t>
            </a:r>
            <a:r>
              <a:rPr sz="1100">
                <a:solidFill>
                  <a:srgbClr val="F8FAFC"/>
                </a:solidFill>
                <a:latin typeface="Arial"/>
              </a:rPr>
              <a:t>₹3,240 / month (₹38,880 / year)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6366F1"/>
                </a:solidFill>
                <a:latin typeface="Arial"/>
              </a:rPr>
              <a:t>Risk &amp; Confidence: </a:t>
            </a:r>
            <a:r>
              <a:rPr sz="1050">
                <a:solidFill>
                  <a:srgbClr val="F8FAFC"/>
                </a:solidFill>
                <a:latin typeface="Arial"/>
              </a:rPr>
              <a:t>Risk: Low  |  Confidence Score: 92%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94A3B8"/>
                </a:solidFill>
                <a:latin typeface="Arial"/>
              </a:rPr>
              <a:t>Why Was It Flagged? </a:t>
            </a:r>
            <a:r>
              <a:rPr sz="950">
                <a:solidFill>
                  <a:srgbClr val="F8FAFC"/>
                </a:solidFill>
                <a:latin typeface="Arial"/>
              </a:rPr>
              <a:t>"CPU utilization averaged 5.7% over the 60-day observation period, well below the 10% threshold. The instance appears significantly oversized for its workload."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EMPIRICAL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Initial Output &amp; Actual System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8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/>
              <a:t>ACTUAL PLATFORM METRICS &amp;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Total Simulated Cloud Spend: </a:t>
            </a:r>
            <a:r>
              <a:rPr sz="1050">
                <a:solidFill>
                  <a:srgbClr val="F8FAFC"/>
                </a:solidFill>
                <a:latin typeface="Arial"/>
              </a:rPr>
              <a:t>₹2,95,141 (~₹3.0 Lakhs across 60 days)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Potential Monthly Savings: </a:t>
            </a:r>
            <a:r>
              <a:rPr sz="1100">
                <a:solidFill>
                  <a:srgbClr val="F8FAFC"/>
                </a:solidFill>
                <a:latin typeface="Arial"/>
              </a:rPr>
              <a:t>₹16,310 / month (₹1,95,720 / year)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Active Resources Monitored: </a:t>
            </a:r>
            <a:r>
              <a:rPr sz="1050">
                <a:solidFill>
                  <a:srgbClr val="F8FAFC"/>
                </a:solidFill>
                <a:latin typeface="Arial"/>
              </a:rPr>
              <a:t>20 assets (8 EC2, 4 RDS, 4 S3, 4 Lambda)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EF4444"/>
                </a:solidFill>
                <a:latin typeface="Arial"/>
              </a:rPr>
              <a:t>Anomalies Flagged: </a:t>
            </a:r>
            <a:r>
              <a:rPr sz="1050">
                <a:solidFill>
                  <a:srgbClr val="F8FAFC"/>
                </a:solidFill>
                <a:latin typeface="Arial"/>
              </a:rPr>
              <a:t>61 events detected (8 Critical, 2 High)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Optimization Opportunities: </a:t>
            </a:r>
            <a:r>
              <a:rPr sz="1050">
                <a:solidFill>
                  <a:srgbClr val="F8FAFC"/>
                </a:solidFill>
                <a:latin typeface="Arial"/>
              </a:rPr>
              <a:t>8 active actionable recommendations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Current Monthly Run-Rate: </a:t>
            </a:r>
            <a:r>
              <a:rPr sz="1050">
                <a:solidFill>
                  <a:srgbClr val="F8FAFC"/>
                </a:solidFill>
                <a:latin typeface="Arial"/>
              </a:rPr>
              <a:t>₹1,50,066 / month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Predicted Monthly Run-Rate: </a:t>
            </a:r>
            <a:r>
              <a:rPr sz="1050">
                <a:solidFill>
                  <a:srgbClr val="F8FAFC"/>
                </a:solidFill>
                <a:latin typeface="Arial"/>
              </a:rPr>
              <a:t>₹1,50,949 / month (+0.6% drift)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8FAFC"/>
                </a:solidFill>
                <a:latin typeface="Arial"/>
              </a:rPr>
              <a:t>Forecast Prediction Window: </a:t>
            </a:r>
            <a:r>
              <a:rPr sz="1050">
                <a:solidFill>
                  <a:srgbClr val="F8FAFC"/>
                </a:solidFill>
                <a:latin typeface="Arial"/>
              </a:rPr>
              <a:t>14 days ahead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71600"/>
            <a:ext cx="5790895" cy="484632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508760"/>
            <a:ext cx="55165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/>
              <a:t>LIVE RUNNING DASHBOARD SCREENSHOT</a:t>
            </a:r>
          </a:p>
        </p:txBody>
      </p:sp>
      <p:pic>
        <p:nvPicPr>
          <p:cNvPr id="11" name="Picture 10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39" y="2084832"/>
            <a:ext cx="5516575" cy="30458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IMPLEMENTATION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Implementation &amp; Program Source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9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7300" y="1481328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CORE BACKEND IMPLEMENTATION (PYTHON / FASTAPI)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1. Isolation Forest Anomaly Detection (analysis.py): 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F8FAFC"/>
                </a:solidFill>
                <a:latin typeface="Arial"/>
              </a:rPr>
              <a:t>df["rolling_mean"] = df["daily_cost"].rolling(7, min_periods=1).mean()
features = df[["daily_cost", "rolling_mean"]].values
model = IsolationForest(contamination=0.08, random_state=42, n_estimators=40)
preds = model.fit_predict(features)  # -1 flags anomalies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F8FAFC"/>
                </a:solidFill>
                <a:latin typeface="Arial"/>
              </a:rPr>
              <a:t>One-Line Explanation: </a:t>
            </a:r>
            <a:r>
              <a:rPr sz="900">
                <a:solidFill>
                  <a:srgbClr val="F8FAFC"/>
                </a:solidFill>
                <a:latin typeface="Arial"/>
              </a:rPr>
              <a:t>Unsupervised ML model isolates unusual spending deviations based on daily expenditure and 7-day rolling baseline.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2. Underutilization &amp; Dynamic Savings Rule (analysis.py): 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F8FAFC"/>
                </a:solidFill>
                <a:latin typeface="Arial"/>
              </a:rPr>
              <a:t>if r["service"] == "EC2" and r.get("utilization_status") == "Underutilized":
    saving = round(r["monthly_cost"] * 0.45, 0)
    confidence = min(95, round(90 + (10 - avg_cpu) * 0.5, 0))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F8FAFC"/>
                </a:solidFill>
                <a:latin typeface="Arial"/>
              </a:rPr>
              <a:t>One-Line Explanation: </a:t>
            </a:r>
            <a:r>
              <a:rPr sz="900">
                <a:solidFill>
                  <a:srgbClr val="F8FAFC"/>
                </a:solidFill>
                <a:latin typeface="Arial"/>
              </a:rPr>
              <a:t>Evaluates observed CPU heuristics against FinOps thresholds and dynamically scales confidence and savings.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3. FastAPI Endpoint Handler (main.py): 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F8FAFC"/>
                </a:solidFill>
                <a:latin typeface="Arial"/>
              </a:rPr>
              <a:t>@app.get("/api/recommendations")
def recommendations():
    return analysis.get_recommendations()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F8FAFC"/>
                </a:solidFill>
                <a:latin typeface="Arial"/>
              </a:rPr>
              <a:t>One-Line Explanation: </a:t>
            </a:r>
            <a:r>
              <a:rPr sz="900">
                <a:solidFill>
                  <a:srgbClr val="F8FAFC"/>
                </a:solidFill>
                <a:latin typeface="Arial"/>
              </a:rPr>
              <a:t>Provides lightning-fast JSON payload serving recommendations directly to the React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59375" cy="484632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1508760"/>
            <a:ext cx="47850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/>
              <a:t>LIVE ANOMALY DETECTION OUTPUT</a:t>
            </a:r>
          </a:p>
        </p:txBody>
      </p:sp>
      <p:pic>
        <p:nvPicPr>
          <p:cNvPr id="11" name="Picture 10" descr="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59" y="2176593"/>
            <a:ext cx="4785055" cy="26419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DATA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Graphs &amp; Empirical Data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10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301752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1" y="2285582"/>
            <a:ext cx="4352248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sz="1600" dirty="0"/>
              <a:t>REAL VISUALIZATIONS GENERATED BY CLOUDWISE (RECHARTS / REACT)</a:t>
            </a:r>
          </a:p>
        </p:txBody>
      </p:sp>
      <p:pic>
        <p:nvPicPr>
          <p:cNvPr id="8" name="Picture 7" descr="cos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365" y="1465112"/>
            <a:ext cx="6226929" cy="28782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526280"/>
            <a:ext cx="10728655" cy="173736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636008"/>
            <a:ext cx="1045433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sz="1400" dirty="0"/>
              <a:t>EMPIRICAL OBSERVATIONS FROM GENERATED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62895" cy="137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dirty="0">
                <a:solidFill>
                  <a:srgbClr val="F8FAFC"/>
                </a:solidFill>
                <a:latin typeface="Arial"/>
              </a:rPr>
              <a:t>• Cost Distribution by Service: </a:t>
            </a:r>
            <a:r>
              <a:rPr sz="1050" dirty="0">
                <a:solidFill>
                  <a:srgbClr val="F8FAFC"/>
                </a:solidFill>
                <a:latin typeface="Arial"/>
              </a:rPr>
              <a:t>EC2 accounts for 48–51% (~₹1.50L) of cloud expenditure, RDS accounts for 40% (~₹1.18L), Lambda accounts for 6% (~₹17k), and S3 represents 3% (~₹10k).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F8FAFC"/>
                </a:solidFill>
                <a:latin typeface="Arial"/>
              </a:rPr>
              <a:t>• Daily Spending Trajectory: </a:t>
            </a:r>
            <a:r>
              <a:rPr sz="1050" dirty="0">
                <a:solidFill>
                  <a:srgbClr val="F8FAFC"/>
                </a:solidFill>
                <a:latin typeface="Arial"/>
              </a:rPr>
              <a:t>Daily spend maintains a consistent baseline between ₹4,700–₹5,200/day, with upward spikes occurring in the final 10 days due to injected Lambda traffic bursts and scaling events.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F8FAFC"/>
                </a:solidFill>
                <a:latin typeface="Arial"/>
              </a:rPr>
              <a:t>• Identified Inefficiencies: </a:t>
            </a:r>
            <a:r>
              <a:rPr sz="1050" dirty="0">
                <a:solidFill>
                  <a:srgbClr val="F8FAFC"/>
                </a:solidFill>
                <a:latin typeface="Arial"/>
              </a:rPr>
              <a:t>Three EC2 instances (production-api-03, staging-server, dev-server-02) maintain average CPU below 6%, representing ₹6,615/</a:t>
            </a:r>
            <a:r>
              <a:rPr sz="1050" dirty="0" err="1">
                <a:solidFill>
                  <a:srgbClr val="F8FAFC"/>
                </a:solidFill>
                <a:latin typeface="Arial"/>
              </a:rPr>
              <a:t>mo</a:t>
            </a:r>
            <a:r>
              <a:rPr sz="1050" dirty="0">
                <a:solidFill>
                  <a:srgbClr val="F8FAFC"/>
                </a:solidFill>
                <a:latin typeface="Arial"/>
              </a:rPr>
              <a:t> in preventable waste.</a:t>
            </a:r>
          </a:p>
          <a:p>
            <a:pPr>
              <a:spcAft>
                <a:spcPts val="400"/>
              </a:spcAft>
            </a:pPr>
            <a:r>
              <a:rPr sz="1050" b="1" dirty="0">
                <a:solidFill>
                  <a:srgbClr val="F8FAFC"/>
                </a:solidFill>
                <a:latin typeface="Arial"/>
              </a:rPr>
              <a:t>• 14-Day Linear Forecast: </a:t>
            </a:r>
            <a:r>
              <a:rPr sz="1050" dirty="0">
                <a:solidFill>
                  <a:srgbClr val="F8FAFC"/>
                </a:solidFill>
                <a:latin typeface="Arial"/>
              </a:rPr>
              <a:t>Linear regression indicates a mild upward trend (+0.6% monthly drift), alerting administrators to budget overruns before they materialize.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SYSTEM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Scalability &amp; Deployment Potential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11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201168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14700" y="1410623"/>
            <a:ext cx="1045433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sz="1600" dirty="0"/>
              <a:t>ARCHITECTURE EVOLUTION: MVP TO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9702"/>
            <a:ext cx="10362895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 dirty="0">
                <a:solidFill>
                  <a:srgbClr val="38BDF8"/>
                </a:solidFill>
                <a:latin typeface="Arial"/>
              </a:rPr>
              <a:t>Current MVP Implementation: </a:t>
            </a:r>
            <a:r>
              <a:rPr sz="1400" dirty="0">
                <a:solidFill>
                  <a:srgbClr val="F8FAFC"/>
                </a:solidFill>
                <a:latin typeface="Arial"/>
              </a:rPr>
              <a:t>Simulated AWS Telemetry → SQLite Relational DB → </a:t>
            </a:r>
            <a:r>
              <a:rPr sz="1400" dirty="0" err="1">
                <a:solidFill>
                  <a:srgbClr val="F8FAFC"/>
                </a:solidFill>
                <a:latin typeface="Arial"/>
              </a:rPr>
              <a:t>FastAPI</a:t>
            </a:r>
            <a:r>
              <a:rPr sz="1400" dirty="0">
                <a:solidFill>
                  <a:srgbClr val="F8FAFC"/>
                </a:solidFill>
                <a:latin typeface="Arial"/>
              </a:rPr>
              <a:t> Engine → React Vite SPA (Self-contained, credential-free, fast demo)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10B981"/>
                </a:solidFill>
                <a:latin typeface="Arial"/>
              </a:rPr>
              <a:t>Production Enterprise Target: </a:t>
            </a:r>
            <a:r>
              <a:rPr sz="1400" dirty="0">
                <a:solidFill>
                  <a:srgbClr val="F8FAFC"/>
                </a:solidFill>
                <a:latin typeface="Arial"/>
              </a:rPr>
              <a:t>AWS Cost Explorer + CloudWatch Metric Streams + AWS Config → Scalable Ingestion Pipeline (Kafka / Celery) → PostgreSQL / </a:t>
            </a:r>
            <a:r>
              <a:rPr sz="1400" dirty="0" err="1">
                <a:solidFill>
                  <a:srgbClr val="F8FAFC"/>
                </a:solidFill>
                <a:latin typeface="Arial"/>
              </a:rPr>
              <a:t>TimescaleDB</a:t>
            </a:r>
            <a:r>
              <a:rPr sz="1400" dirty="0">
                <a:solidFill>
                  <a:srgbClr val="F8FAFC"/>
                </a:solidFill>
                <a:latin typeface="Arial"/>
              </a:rPr>
              <a:t> → </a:t>
            </a:r>
            <a:r>
              <a:rPr sz="1400" dirty="0" err="1">
                <a:solidFill>
                  <a:srgbClr val="F8FAFC"/>
                </a:solidFill>
                <a:latin typeface="Arial"/>
              </a:rPr>
              <a:t>CloudWise</a:t>
            </a:r>
            <a:r>
              <a:rPr sz="1400" dirty="0">
                <a:solidFill>
                  <a:srgbClr val="F8FAFC"/>
                </a:solidFill>
                <a:latin typeface="Arial"/>
              </a:rPr>
              <a:t> Analytics Core → React Enterprise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5257800" cy="27432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768774"/>
            <a:ext cx="49834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sz="1400" dirty="0"/>
              <a:t>INFRASTRUCTURE &amp; DATA 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489204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1. Database Evolution: </a:t>
            </a:r>
            <a:r>
              <a:rPr sz="1200" dirty="0">
                <a:solidFill>
                  <a:srgbClr val="F8FAFC"/>
                </a:solidFill>
                <a:latin typeface="Arial"/>
              </a:rPr>
              <a:t>Transition from SQLite to PostgreSQL / </a:t>
            </a:r>
            <a:r>
              <a:rPr sz="1200" dirty="0" err="1">
                <a:solidFill>
                  <a:srgbClr val="F8FAFC"/>
                </a:solidFill>
                <a:latin typeface="Arial"/>
              </a:rPr>
              <a:t>TimescaleDB</a:t>
            </a:r>
            <a:r>
              <a:rPr sz="1200" dirty="0">
                <a:solidFill>
                  <a:srgbClr val="F8FAFC"/>
                </a:solidFill>
                <a:latin typeface="Arial"/>
              </a:rPr>
              <a:t> for multi-year time-series telemetry.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2. Expanded Cloud Services: </a:t>
            </a:r>
            <a:r>
              <a:rPr sz="1200" dirty="0">
                <a:solidFill>
                  <a:srgbClr val="F8FAFC"/>
                </a:solidFill>
                <a:latin typeface="Arial"/>
              </a:rPr>
              <a:t>Broaden monitoring to AWS EKS (Kubernetes), ECS, DynamoDB, NAT Gateways, and CloudFront.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3. Scheduled Data Ingestion: </a:t>
            </a:r>
            <a:r>
              <a:rPr sz="1200" dirty="0">
                <a:solidFill>
                  <a:srgbClr val="F8FAFC"/>
                </a:solidFill>
                <a:latin typeface="Arial"/>
              </a:rPr>
              <a:t>Asynchronous event-driven data ingestion using AWS </a:t>
            </a:r>
            <a:r>
              <a:rPr sz="1200" dirty="0" err="1">
                <a:solidFill>
                  <a:srgbClr val="F8FAFC"/>
                </a:solidFill>
                <a:latin typeface="Arial"/>
              </a:rPr>
              <a:t>EventBridge</a:t>
            </a:r>
            <a:r>
              <a:rPr sz="1200" dirty="0">
                <a:solidFill>
                  <a:srgbClr val="F8FAFC"/>
                </a:solidFill>
                <a:latin typeface="Arial"/>
              </a:rPr>
              <a:t>, SQS, and Celery workers.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4. High-Throughput Processing: </a:t>
            </a:r>
            <a:r>
              <a:rPr sz="1200" dirty="0">
                <a:solidFill>
                  <a:srgbClr val="F8FAFC"/>
                </a:solidFill>
                <a:latin typeface="Arial"/>
              </a:rPr>
              <a:t>Distributed ML training and batched anomaly evaluation across millions of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520440"/>
            <a:ext cx="5242255" cy="274320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76190" y="3771979"/>
            <a:ext cx="496793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sz="1400" dirty="0"/>
              <a:t>ENTERPRISE DEPLOYMENT &amp;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59936"/>
            <a:ext cx="4876495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5. Live AWS Integration: </a:t>
            </a:r>
            <a:r>
              <a:rPr sz="1200" dirty="0">
                <a:solidFill>
                  <a:srgbClr val="F8FAFC"/>
                </a:solidFill>
                <a:latin typeface="Arial"/>
              </a:rPr>
              <a:t>Seamless connection via IAM Cross-Account Roles &amp; AWS Boto3 SDK (no static keys).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6. Multi-Account Management: </a:t>
            </a:r>
            <a:r>
              <a:rPr sz="1200" dirty="0">
                <a:solidFill>
                  <a:srgbClr val="F8FAFC"/>
                </a:solidFill>
                <a:latin typeface="Arial"/>
              </a:rPr>
              <a:t>Centralized FinOps visibility across entire AWS Organizations (Dev, Staging, Prod accounts).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7. Security &amp; Governance: </a:t>
            </a:r>
            <a:r>
              <a:rPr sz="1200" dirty="0">
                <a:solidFill>
                  <a:srgbClr val="F8FAFC"/>
                </a:solidFill>
                <a:latin typeface="Arial"/>
              </a:rPr>
              <a:t>Role-Based Access Control (RBAC), SSO integration, and full audit logging.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8. Cloud-Native Hosting: </a:t>
            </a:r>
            <a:r>
              <a:rPr sz="1200" dirty="0">
                <a:solidFill>
                  <a:srgbClr val="F8FAFC"/>
                </a:solidFill>
                <a:latin typeface="Arial"/>
              </a:rPr>
              <a:t>Containerized Docker deployment on AWS ECS Fargate or AWS App Runner.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Future Scope — Roadmap &amp; Roadmap Distinctions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12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1756095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sz="1200" dirty="0"/>
              <a:t>CURRENT MVP (IMPLEMENTED &amp; CONFIRMED)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5577"/>
            <a:ext cx="4846320" cy="348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Simulated AWS Telemetry: </a:t>
            </a:r>
            <a:r>
              <a:rPr sz="1200" dirty="0">
                <a:solidFill>
                  <a:srgbClr val="F8FAFC"/>
                </a:solidFill>
                <a:latin typeface="Arial"/>
              </a:rPr>
              <a:t>60-day reproducible dataset covering EC2, RDS, S3, and Lambda instances with realistic noise and deliberate spikes.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Unsupervised ML Anomaly Detection: </a:t>
            </a:r>
            <a:r>
              <a:rPr sz="1200" dirty="0">
                <a:solidFill>
                  <a:srgbClr val="F8FAFC"/>
                </a:solidFill>
                <a:latin typeface="Arial"/>
              </a:rPr>
              <a:t>Scikit-learn Isolation Forest flagging 61 cost anomalies with severity tiers (Critical, High, Medium, Low).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Rule-Based FinOps Heuristics: </a:t>
            </a:r>
            <a:r>
              <a:rPr sz="1200" dirty="0">
                <a:solidFill>
                  <a:srgbClr val="F8FAFC"/>
                </a:solidFill>
                <a:latin typeface="Arial"/>
              </a:rPr>
              <a:t>Underutilization rules for compute (&lt;10% CPU), database (&lt;15% CPU, &lt;10 conns), and storage access.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Explainable Recommendation Layer: </a:t>
            </a:r>
            <a:r>
              <a:rPr sz="1200" dirty="0">
                <a:solidFill>
                  <a:srgbClr val="F8FAFC"/>
                </a:solidFill>
                <a:latin typeface="Arial"/>
              </a:rPr>
              <a:t>Dynamic answers for WHAT, WHY, ACTION, RISK, CONFIDENCE %, and SAVINGS in ₹ INR.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14-Day Cost Forecasting: </a:t>
            </a:r>
            <a:r>
              <a:rPr sz="1200" dirty="0">
                <a:solidFill>
                  <a:srgbClr val="F8FAFC"/>
                </a:solidFill>
                <a:latin typeface="Arial"/>
              </a:rPr>
              <a:t>Lightweight linear regression projecting short-term spending trends and percentage changes.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</a:t>
            </a:r>
            <a:r>
              <a:rPr sz="1200" b="1" dirty="0" err="1">
                <a:solidFill>
                  <a:srgbClr val="F8FAFC"/>
                </a:solidFill>
                <a:latin typeface="Arial"/>
              </a:rPr>
              <a:t>Glassmorphic</a:t>
            </a:r>
            <a:r>
              <a:rPr sz="1200" b="1" dirty="0">
                <a:solidFill>
                  <a:srgbClr val="F8FAFC"/>
                </a:solidFill>
                <a:latin typeface="Arial"/>
              </a:rPr>
              <a:t> React Dashboard: </a:t>
            </a:r>
            <a:r>
              <a:rPr sz="1200" dirty="0">
                <a:solidFill>
                  <a:srgbClr val="F8FAFC"/>
                </a:solidFill>
                <a:latin typeface="Arial"/>
              </a:rPr>
              <a:t>Single-pane SaaS web interface with live Recharts visualizations and slide-out resource inspector.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2668" y="1756095"/>
            <a:ext cx="496793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sz="1100" dirty="0"/>
              <a:t>FUTURE DEVELOPMENT (PLANNED ENHANCEMENTS)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59015"/>
            <a:ext cx="4876495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1. Live AWS Boto3 Integration: </a:t>
            </a:r>
            <a:r>
              <a:rPr sz="1200" dirty="0">
                <a:solidFill>
                  <a:srgbClr val="F8FAFC"/>
                </a:solidFill>
                <a:latin typeface="Arial"/>
              </a:rPr>
              <a:t>Direct credentialed connection to AWS Cost Explorer, CloudWatch Metrics, and AWS Compute Optimizer.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2. Real-time Streaming Alarms: </a:t>
            </a:r>
            <a:r>
              <a:rPr sz="1200" dirty="0">
                <a:solidFill>
                  <a:srgbClr val="F8FAFC"/>
                </a:solidFill>
                <a:latin typeface="Arial"/>
              </a:rPr>
              <a:t>Integration with AWS SNS, Slack Webhooks, and PagerDuty for instantaneous cost spike alerts.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3. Multi-Cloud FinOps Support: </a:t>
            </a:r>
            <a:r>
              <a:rPr sz="1200" dirty="0">
                <a:solidFill>
                  <a:srgbClr val="F8FAFC"/>
                </a:solidFill>
                <a:latin typeface="Arial"/>
              </a:rPr>
              <a:t>Extend intelligence layer to Microsoft Azure (Cost Management) and Google Cloud Platform (Cloud Billing).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4. Advanced Time-Series ML: </a:t>
            </a:r>
            <a:r>
              <a:rPr sz="1200" dirty="0">
                <a:solidFill>
                  <a:srgbClr val="F8FAFC"/>
                </a:solidFill>
                <a:latin typeface="Arial"/>
              </a:rPr>
              <a:t>Evaluate SARIMA, Facebook Prophet, and LSTM neural networks for complex seasonal spending patterns.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5. SHAP Feature Attribution: </a:t>
            </a:r>
            <a:r>
              <a:rPr sz="1200" dirty="0">
                <a:solidFill>
                  <a:srgbClr val="F8FAFC"/>
                </a:solidFill>
                <a:latin typeface="Arial"/>
              </a:rPr>
              <a:t>Integrate </a:t>
            </a:r>
            <a:r>
              <a:rPr sz="1200" dirty="0" err="1">
                <a:solidFill>
                  <a:srgbClr val="F8FAFC"/>
                </a:solidFill>
                <a:latin typeface="Arial"/>
              </a:rPr>
              <a:t>SHapley</a:t>
            </a:r>
            <a:r>
              <a:rPr sz="1200" dirty="0">
                <a:solidFill>
                  <a:srgbClr val="F8FAFC"/>
                </a:solidFill>
                <a:latin typeface="Arial"/>
              </a:rPr>
              <a:t> Additive </a:t>
            </a:r>
            <a:r>
              <a:rPr sz="1200" dirty="0" err="1">
                <a:solidFill>
                  <a:srgbClr val="F8FAFC"/>
                </a:solidFill>
                <a:latin typeface="Arial"/>
              </a:rPr>
              <a:t>exPlanations</a:t>
            </a:r>
            <a:r>
              <a:rPr sz="1200" dirty="0">
                <a:solidFill>
                  <a:srgbClr val="F8FAFC"/>
                </a:solidFill>
                <a:latin typeface="Arial"/>
              </a:rPr>
              <a:t> for mathematical feature-level explainability in enterprise audits.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6. 1-Click Automated Remediation: </a:t>
            </a:r>
            <a:r>
              <a:rPr sz="1200" dirty="0">
                <a:solidFill>
                  <a:srgbClr val="F8FAFC"/>
                </a:solidFill>
                <a:latin typeface="Arial"/>
              </a:rPr>
              <a:t>Opt-in automated downsizing, schedule stop/start, and lifecycle rule migration with safety rollbacks.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PROJECT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Roadmap — 2-Month Execution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13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50292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7F3D0"/>
                </a:solidFill>
              </a:defRPr>
            </a:pPr>
            <a:r>
              <a:t>TARGET ACHIEVED: CORE PROJECT IMPLEMENTATION COMPLETED BY END OF MONTH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2349115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sz="1200" dirty="0"/>
              <a:t>MONTH 1: IMPLEMENTATION &amp; WIND-UP (DONE)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48463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WEEK 1 (Foundation): </a:t>
            </a:r>
            <a:r>
              <a:rPr sz="1400" dirty="0">
                <a:solidFill>
                  <a:srgbClr val="F8FAFC"/>
                </a:solidFill>
                <a:latin typeface="Arial"/>
              </a:rPr>
              <a:t>Architecture design, simulated 60-day AWS dataset generation (EC2, RDS, S3, Lambda), SQLite database schema, and initial </a:t>
            </a:r>
            <a:r>
              <a:rPr sz="1400" dirty="0" err="1">
                <a:solidFill>
                  <a:srgbClr val="F8FAFC"/>
                </a:solidFill>
                <a:latin typeface="Arial"/>
              </a:rPr>
              <a:t>FastAPI</a:t>
            </a:r>
            <a:r>
              <a:rPr sz="1400" dirty="0">
                <a:solidFill>
                  <a:srgbClr val="F8FAFC"/>
                </a:solidFill>
                <a:latin typeface="Arial"/>
              </a:rPr>
              <a:t> REST server.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WEEK 2 (Core Intelligence): </a:t>
            </a:r>
            <a:r>
              <a:rPr sz="1400" dirty="0">
                <a:solidFill>
                  <a:srgbClr val="F8FAFC"/>
                </a:solidFill>
                <a:latin typeface="Arial"/>
              </a:rPr>
              <a:t>Cost analysis engine, resource utilization telemetry calculations, and Scikit-learn Isolation Forest ML anomaly model.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WEEK 3 (Explainability &amp; Forecasting): </a:t>
            </a:r>
            <a:r>
              <a:rPr sz="1400" dirty="0">
                <a:solidFill>
                  <a:srgbClr val="F8FAFC"/>
                </a:solidFill>
                <a:latin typeface="Arial"/>
              </a:rPr>
              <a:t>Explainable recommendation engine, dynamic reasoning generator, 14-day linear cost forecasting, and </a:t>
            </a:r>
            <a:r>
              <a:rPr sz="1400" dirty="0" err="1">
                <a:solidFill>
                  <a:srgbClr val="F8FAFC"/>
                </a:solidFill>
                <a:latin typeface="Arial"/>
              </a:rPr>
              <a:t>CloudWise</a:t>
            </a:r>
            <a:r>
              <a:rPr sz="1400" dirty="0">
                <a:solidFill>
                  <a:srgbClr val="F8FAFC"/>
                </a:solidFill>
                <a:latin typeface="Arial"/>
              </a:rPr>
              <a:t> insights logic.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WEEK 4 (Final Implementation / Wind-Up): </a:t>
            </a:r>
            <a:r>
              <a:rPr sz="1400" dirty="0">
                <a:solidFill>
                  <a:srgbClr val="F8FAFC"/>
                </a:solidFill>
                <a:latin typeface="Arial"/>
              </a:rPr>
              <a:t>Frontend-backend integration, Recharts visualizations, UI polish, layout bug fixes, endpoint testing, and final MVP completion.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42255" cy="420624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2370985"/>
            <a:ext cx="496793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sz="1200" dirty="0"/>
              <a:t>MONTH 2: VALIDATION &amp; ACADEMIC 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49866"/>
            <a:ext cx="487649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WEEK 5 (Validation &amp; Stress Testing): </a:t>
            </a:r>
            <a:r>
              <a:rPr sz="1400" dirty="0">
                <a:solidFill>
                  <a:srgbClr val="F8FAFC"/>
                </a:solidFill>
                <a:latin typeface="Arial"/>
              </a:rPr>
              <a:t>Model hyperparameter tuning (contamination rates), boundary condition testing, and validation across varying resource loads.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WEEK 6 (Comprehensive Documentation): </a:t>
            </a:r>
            <a:r>
              <a:rPr sz="1400" dirty="0">
                <a:solidFill>
                  <a:srgbClr val="F8FAFC"/>
                </a:solidFill>
                <a:latin typeface="Arial"/>
              </a:rPr>
              <a:t>Preparation of comprehensive project report, research documentation, architectural diagrams, and user guide.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WEEK 7 (Presentation &amp; Viva Rehearsal): </a:t>
            </a:r>
            <a:r>
              <a:rPr sz="1400" dirty="0">
                <a:solidFill>
                  <a:srgbClr val="F8FAFC"/>
                </a:solidFill>
                <a:latin typeface="Arial"/>
              </a:rPr>
              <a:t>Finalization of academic slide deck, live demo preparation, faculty review feedback incorporation, and practice dry runs.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WEEK 8 (Final Evaluation &amp; Submission): </a:t>
            </a:r>
            <a:r>
              <a:rPr sz="1400" dirty="0">
                <a:solidFill>
                  <a:srgbClr val="F8FAFC"/>
                </a:solidFill>
                <a:latin typeface="Arial"/>
              </a:rPr>
              <a:t>Final academic viva defense, project submission, GitHub code archive packaging, and evaluation sign-off.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Deliverables &amp; Achieved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14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0231" y="1737400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sz="1400" dirty="0"/>
              <a:t>CURRENTLY ACHIEVED DELIVERABLES (VERIFIED)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493776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Fully Functional FinOps Dashboard: </a:t>
            </a:r>
            <a:r>
              <a:rPr sz="1200" dirty="0">
                <a:solidFill>
                  <a:srgbClr val="F8FAFC"/>
                </a:solidFill>
                <a:latin typeface="Arial"/>
              </a:rPr>
              <a:t>High-performance React 19 web application with dynamic KPIs, dark-mode design system, and zero layout issues.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Reproducible 60-Day AWS Dataset: </a:t>
            </a:r>
            <a:r>
              <a:rPr sz="1200" dirty="0">
                <a:solidFill>
                  <a:srgbClr val="F8FAFC"/>
                </a:solidFill>
                <a:latin typeface="Arial"/>
              </a:rPr>
              <a:t>20 simulated cloud assets (EC2, RDS, S3, Lambda) with realistic seasonal variance and injected anomalies.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Unsupervised ML Cost Anomaly Detection: </a:t>
            </a:r>
            <a:r>
              <a:rPr sz="1200" dirty="0">
                <a:solidFill>
                  <a:srgbClr val="F8FAFC"/>
                </a:solidFill>
                <a:latin typeface="Arial"/>
              </a:rPr>
              <a:t>Isolation Forest algorithm successfully identifying 61 cost spikes categorized into 4 severity levels.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Transparent Utilization Profiling: </a:t>
            </a:r>
            <a:r>
              <a:rPr sz="1200" dirty="0">
                <a:solidFill>
                  <a:srgbClr val="F8FAFC"/>
                </a:solidFill>
                <a:latin typeface="Arial"/>
              </a:rPr>
              <a:t>Accurate detection of underutilized instances, idle databases, and infrequently accessed storage.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Explainable Recommendation Engine: </a:t>
            </a:r>
            <a:r>
              <a:rPr sz="1200" dirty="0">
                <a:solidFill>
                  <a:srgbClr val="F8FAFC"/>
                </a:solidFill>
                <a:latin typeface="Arial"/>
              </a:rPr>
              <a:t>Every opportunity provides Problem, Action, Confidence %, Risk tier, and human-readable Reason.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Demonstrated Financial Savings: </a:t>
            </a:r>
            <a:r>
              <a:rPr sz="1200" dirty="0">
                <a:solidFill>
                  <a:srgbClr val="F8FAFC"/>
                </a:solidFill>
                <a:latin typeface="Arial"/>
              </a:rPr>
              <a:t>Identified ₹16,310/month (~₹1.95 Lakhs/year) of potential recurring savings across 8 resources.</a:t>
            </a:r>
          </a:p>
          <a:p>
            <a:pPr>
              <a:spcAft>
                <a:spcPts val="400"/>
              </a:spcAft>
            </a:pPr>
            <a:r>
              <a:rPr sz="1200" b="1" dirty="0">
                <a:solidFill>
                  <a:srgbClr val="F8FAFC"/>
                </a:solidFill>
                <a:latin typeface="Arial"/>
              </a:rPr>
              <a:t>✓ 14-Day Predictive Spending Forecast: </a:t>
            </a:r>
            <a:r>
              <a:rPr sz="1200" dirty="0">
                <a:solidFill>
                  <a:srgbClr val="F8FAFC"/>
                </a:solidFill>
                <a:latin typeface="Arial"/>
              </a:rPr>
              <a:t>Linear regression model forecasting upcoming expenditure trends (+0.6% monthly drift).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734274"/>
            <a:ext cx="496793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sz="1400" dirty="0"/>
              <a:t>FUTURE / EXPECTED OUTCOMES (PLANNED)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5105095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• Live AWS API Integration: </a:t>
            </a:r>
            <a:r>
              <a:rPr sz="1400" dirty="0">
                <a:solidFill>
                  <a:srgbClr val="F8FAFC"/>
                </a:solidFill>
                <a:latin typeface="Arial"/>
              </a:rPr>
              <a:t>Real-time synchronization with AWS Cost Explorer, CloudWatch Metric Streams, and AWS Budgets via IAM.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• Multi-Cloud Support: </a:t>
            </a:r>
            <a:r>
              <a:rPr sz="1400" dirty="0">
                <a:solidFill>
                  <a:srgbClr val="F8FAFC"/>
                </a:solidFill>
                <a:latin typeface="Arial"/>
              </a:rPr>
              <a:t>Unified cost intelligence dashboard bridging AWS, Microsoft Azure, and Google Cloud Platform.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• Automated 1-Click Remediation: </a:t>
            </a:r>
            <a:r>
              <a:rPr sz="1400" dirty="0">
                <a:solidFill>
                  <a:srgbClr val="F8FAFC"/>
                </a:solidFill>
                <a:latin typeface="Arial"/>
              </a:rPr>
              <a:t>Direct execution of recommended downsizing, stopping idle instances, or transitioning S3 storage tiers.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• Enterprise Organization Management: </a:t>
            </a:r>
            <a:r>
              <a:rPr sz="1400" dirty="0">
                <a:solidFill>
                  <a:srgbClr val="F8FAFC"/>
                </a:solidFill>
                <a:latin typeface="Arial"/>
              </a:rPr>
              <a:t>Multi-tenant role-based access control, SSO authentication, and team-level budget alerting.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• Continuous Real-Time Streaming Anomaly Detection: </a:t>
            </a:r>
            <a:r>
              <a:rPr sz="1400" dirty="0">
                <a:solidFill>
                  <a:srgbClr val="F8FAFC"/>
                </a:solidFill>
                <a:latin typeface="Arial"/>
              </a:rPr>
              <a:t>Kafka/Kinesis streaming anomaly detection for instantaneous alerts.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Academic &amp; Technical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15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0964" y="1557472"/>
            <a:ext cx="1045433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sz="1600" dirty="0"/>
              <a:t>OFFICIAL DOCUMENTATION &amp; ACADEMIC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2060392"/>
            <a:ext cx="10180015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1. AWS Cost Management Documentation (2024): </a:t>
            </a:r>
            <a:r>
              <a:rPr sz="1400" dirty="0">
                <a:solidFill>
                  <a:srgbClr val="F8FAFC"/>
                </a:solidFill>
                <a:latin typeface="Arial"/>
              </a:rPr>
              <a:t>Amazon Web Services. 'AWS Cost Explorer and AWS Cost Anomaly Detection User Guide.' AWS Cloud Financial Management Documentation, Seattle, WA.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2. AWS CloudWatch Metrics Reference (2024): </a:t>
            </a:r>
            <a:r>
              <a:rPr sz="1400" dirty="0">
                <a:solidFill>
                  <a:srgbClr val="F8FAFC"/>
                </a:solidFill>
                <a:latin typeface="Arial"/>
              </a:rPr>
              <a:t>Amazon Web Services. 'Amazon CloudWatch Metrics, Dimensions, and Telemetry Reference Guide.' AWS Technical Documentation.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3. Isolation Forest Algorithm: </a:t>
            </a:r>
            <a:r>
              <a:rPr sz="1400" dirty="0">
                <a:solidFill>
                  <a:srgbClr val="F8FAFC"/>
                </a:solidFill>
                <a:latin typeface="Arial"/>
              </a:rPr>
              <a:t>Liu, F. T., Ting, K. M., &amp; Zhou, Z. H. (2008). 'Isolation Forest.' In Proceedings of the Eighth IEEE International Conference on Data Mining (ICDM), pp. 413–422. DOI: 10.1109/ICDM.2008.17.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4. Scikit-Learn Framework: </a:t>
            </a:r>
            <a:r>
              <a:rPr sz="1400" dirty="0">
                <a:solidFill>
                  <a:srgbClr val="F8FAFC"/>
                </a:solidFill>
                <a:latin typeface="Arial"/>
              </a:rPr>
              <a:t>Pedregosa, F., </a:t>
            </a:r>
            <a:r>
              <a:rPr sz="1400" dirty="0" err="1">
                <a:solidFill>
                  <a:srgbClr val="F8FAFC"/>
                </a:solidFill>
                <a:latin typeface="Arial"/>
              </a:rPr>
              <a:t>Varoquaux</a:t>
            </a:r>
            <a:r>
              <a:rPr sz="1400" dirty="0">
                <a:solidFill>
                  <a:srgbClr val="F8FAFC"/>
                </a:solidFill>
                <a:latin typeface="Arial"/>
              </a:rPr>
              <a:t>, G., </a:t>
            </a:r>
            <a:r>
              <a:rPr sz="1400" dirty="0" err="1">
                <a:solidFill>
                  <a:srgbClr val="F8FAFC"/>
                </a:solidFill>
                <a:latin typeface="Arial"/>
              </a:rPr>
              <a:t>Gramfort</a:t>
            </a:r>
            <a:r>
              <a:rPr sz="1400" dirty="0">
                <a:solidFill>
                  <a:srgbClr val="F8FAFC"/>
                </a:solidFill>
                <a:latin typeface="Arial"/>
              </a:rPr>
              <a:t>, A., Michel, V., Thirion, B., Grisel, O., et al. (2011). 'Scikit-learn: Machine Learning in Python.' Journal of Machine Learning Research (JMLR), 12, pp. 2825–2830.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5. Cloud FinOps Best Practices: </a:t>
            </a:r>
            <a:r>
              <a:rPr sz="1400" dirty="0">
                <a:solidFill>
                  <a:srgbClr val="F8FAFC"/>
                </a:solidFill>
                <a:latin typeface="Arial"/>
              </a:rPr>
              <a:t>Storment, J. R., &amp; Fuller, M. (2023). 'Cloud FinOps: Collaborative, Real-Time Cloud Financial Management.' 2nd Edition, O'Reilly Media, Sebastopol, CA.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6. </a:t>
            </a:r>
            <a:r>
              <a:rPr sz="1400" b="1" dirty="0" err="1">
                <a:solidFill>
                  <a:srgbClr val="F8FAFC"/>
                </a:solidFill>
                <a:latin typeface="Arial"/>
              </a:rPr>
              <a:t>FastAPI</a:t>
            </a:r>
            <a:r>
              <a:rPr sz="1400" b="1" dirty="0">
                <a:solidFill>
                  <a:srgbClr val="F8FAFC"/>
                </a:solidFill>
                <a:latin typeface="Arial"/>
              </a:rPr>
              <a:t> High-Performance Framework: </a:t>
            </a:r>
            <a:r>
              <a:rPr sz="1400" dirty="0" err="1">
                <a:solidFill>
                  <a:srgbClr val="F8FAFC"/>
                </a:solidFill>
                <a:latin typeface="Arial"/>
              </a:rPr>
              <a:t>Tiangolo</a:t>
            </a:r>
            <a:r>
              <a:rPr sz="1400" dirty="0">
                <a:solidFill>
                  <a:srgbClr val="F8FAFC"/>
                </a:solidFill>
                <a:latin typeface="Arial"/>
              </a:rPr>
              <a:t>, S. (2023). '</a:t>
            </a:r>
            <a:r>
              <a:rPr sz="1400" dirty="0" err="1">
                <a:solidFill>
                  <a:srgbClr val="F8FAFC"/>
                </a:solidFill>
                <a:latin typeface="Arial"/>
              </a:rPr>
              <a:t>FastAPI</a:t>
            </a:r>
            <a:r>
              <a:rPr sz="1400" dirty="0">
                <a:solidFill>
                  <a:srgbClr val="F8FAFC"/>
                </a:solidFill>
                <a:latin typeface="Arial"/>
              </a:rPr>
              <a:t>: Modern, Fast (High-Performance) Web Framework for Building APIs with Python 3.8+.' https://fastapi.tiangolo.com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7. React User Interface Library: </a:t>
            </a:r>
            <a:r>
              <a:rPr sz="1400" dirty="0">
                <a:solidFill>
                  <a:srgbClr val="F8FAFC"/>
                </a:solidFill>
                <a:latin typeface="Arial"/>
              </a:rPr>
              <a:t>Meta Open Source (2024). 'React: The Library for Web and Native User Interfaces.' https://react.dev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F8FAFC"/>
                </a:solidFill>
                <a:latin typeface="Arial"/>
              </a:rPr>
              <a:t>8. Recharts Data Visualization: </a:t>
            </a:r>
            <a:r>
              <a:rPr sz="1400" dirty="0">
                <a:solidFill>
                  <a:srgbClr val="F8FAFC"/>
                </a:solidFill>
                <a:latin typeface="Arial"/>
              </a:rPr>
              <a:t>Recharts Group (2024). 'Recharts: A Composable Charting Library Built on React Components.' https://recharts.org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Conclusion &amp; Project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63658"/>
          </a:solidFill>
          <a:ln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CloudWise | Advanced Cloud Computing (BECE355L) | Pragya Prakash (24BML0075) &amp; Vidhi Agarwal (24BML0081)</a:t>
            </a:r>
          </a:p>
          <a:p>
            <a:pPr algn="r">
              <a:defRPr sz="850">
                <a:solidFill>
                  <a:srgbClr val="64748B"/>
                </a:solidFill>
                <a:latin typeface="Arial"/>
              </a:defRPr>
            </a:pPr>
            <a:r>
              <a:t>Slide 16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2926080"/>
          </a:xfrm>
          <a:prstGeom prst="roundRect">
            <a:avLst/>
          </a:prstGeom>
          <a:solidFill>
            <a:srgbClr val="131D35"/>
          </a:solidFill>
          <a:ln w="12700">
            <a:solidFill>
              <a:srgbClr val="26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31620"/>
            <a:ext cx="104543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rPr dirty="0"/>
              <a:t>PROJECT SUMMARY &amp; 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6289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F8FAFC"/>
                </a:solidFill>
                <a:latin typeface="Arial"/>
              </a:rPr>
              <a:t>• Transformation of Cloud Billing: </a:t>
            </a:r>
            <a:r>
              <a:rPr sz="1600" dirty="0" err="1">
                <a:solidFill>
                  <a:srgbClr val="F8FAFC"/>
                </a:solidFill>
                <a:latin typeface="Arial"/>
              </a:rPr>
              <a:t>CloudWise</a:t>
            </a:r>
            <a:r>
              <a:rPr sz="1600" dirty="0">
                <a:solidFill>
                  <a:srgbClr val="F8FAFC"/>
                </a:solidFill>
                <a:latin typeface="Arial"/>
              </a:rPr>
              <a:t> demonstrates how raw cloud cost data can be transformed from passive retrospective billing reports into actionable, explainable resource intelligence.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F8FAFC"/>
                </a:solidFill>
                <a:latin typeface="Arial"/>
              </a:rPr>
              <a:t>• Bridging AI and FinOps Operations: </a:t>
            </a:r>
            <a:r>
              <a:rPr sz="1600" dirty="0">
                <a:solidFill>
                  <a:srgbClr val="F8FAFC"/>
                </a:solidFill>
                <a:latin typeface="Arial"/>
              </a:rPr>
              <a:t>By coupling unsupervised Isolation Forest anomaly detection with deterministic telemetry heuristics, the system eliminates bill shock without requiring manual threshold configuration.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F8FAFC"/>
                </a:solidFill>
                <a:latin typeface="Arial"/>
              </a:rPr>
              <a:t>• Quantifiable Financial Impact: </a:t>
            </a:r>
            <a:r>
              <a:rPr sz="1600" dirty="0">
                <a:solidFill>
                  <a:srgbClr val="F8FAFC"/>
                </a:solidFill>
                <a:latin typeface="Arial"/>
              </a:rPr>
              <a:t>Successfully demonstrated ₹16,310/month (~₹1.95 Lakhs/year) of potential recurring savings across 8 resources, complete with confidence scores and non-destructive recommendations.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F8FAFC"/>
                </a:solidFill>
                <a:latin typeface="Arial"/>
              </a:rPr>
              <a:t>• Transparent Explainability: </a:t>
            </a:r>
            <a:r>
              <a:rPr sz="1600" dirty="0">
                <a:solidFill>
                  <a:srgbClr val="F8FAFC"/>
                </a:solidFill>
                <a:latin typeface="Arial"/>
              </a:rPr>
              <a:t>Engineers and executives can confidently make rightsizing decisions because every recommendation answers WHAT is wrong, WHY it was flagged, and WHAT to 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131D35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"From cloud expenditure → to cloud intelligence → to informed optimization."</a:t>
            </a:r>
          </a:p>
          <a:p>
            <a:pPr algn="ctr">
              <a:defRPr sz="2800" b="1">
                <a:solidFill>
                  <a:srgbClr val="F8FAFC"/>
                </a:solidFill>
              </a:defRPr>
            </a:pPr>
            <a:r>
              <a:t>THANK YOU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Questions &amp; Faculty Discussion | Pragya Prakash (24BML0075) &amp; Vidhi Agarwal (24BML0081) | Guide: Prof. Sangeetha 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3848</Words>
  <Application>Microsoft Office PowerPoint</Application>
  <PresentationFormat>Widescreen</PresentationFormat>
  <Paragraphs>276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Vidhi Agarwal</cp:lastModifiedBy>
  <cp:revision>3</cp:revision>
  <dcterms:created xsi:type="dcterms:W3CDTF">2013-01-27T09:14:16Z</dcterms:created>
  <dcterms:modified xsi:type="dcterms:W3CDTF">2026-09-02T21:07:41Z</dcterms:modified>
  <cp:category/>
</cp:coreProperties>
</file>